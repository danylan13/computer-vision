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6" r:id="rId3"/>
    <p:sldId id="293" r:id="rId4"/>
    <p:sldId id="271" r:id="rId5"/>
    <p:sldId id="285" r:id="rId6"/>
    <p:sldId id="282" r:id="rId7"/>
    <p:sldId id="283" r:id="rId8"/>
    <p:sldId id="286" r:id="rId9"/>
    <p:sldId id="284" r:id="rId10"/>
    <p:sldId id="277" r:id="rId11"/>
    <p:sldId id="288" r:id="rId12"/>
    <p:sldId id="273" r:id="rId13"/>
    <p:sldId id="287" r:id="rId14"/>
    <p:sldId id="275" r:id="rId15"/>
    <p:sldId id="289" r:id="rId16"/>
    <p:sldId id="292" r:id="rId17"/>
    <p:sldId id="270" r:id="rId1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Помірний стиль 2 –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53" autoAdjust="0"/>
  </p:normalViewPr>
  <p:slideViewPr>
    <p:cSldViewPr snapToGrid="0">
      <p:cViewPr varScale="1">
        <p:scale>
          <a:sx n="59" d="100"/>
          <a:sy n="59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80896C-7797-4476-A2F2-5D171E4C86B9}" type="doc">
      <dgm:prSet loTypeId="urn:microsoft.com/office/officeart/2005/8/layout/vList2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LID4096"/>
        </a:p>
      </dgm:t>
    </dgm:pt>
    <dgm:pt modelId="{E580BFBD-156C-419B-9D1B-FBB52AA502B5}">
      <dgm:prSet phldrT="[Текст]" custT="1"/>
      <dgm:spPr/>
      <dgm:t>
        <a:bodyPr/>
        <a:lstStyle/>
        <a:p>
          <a:pPr algn="just"/>
          <a:r>
            <a:rPr lang="uk-UA" sz="2800" dirty="0">
              <a:latin typeface="Verdana" panose="020B0604030504040204" pitchFamily="34" charset="0"/>
              <a:ea typeface="Verdana" panose="020B0604030504040204" pitchFamily="34" charset="0"/>
            </a:rPr>
            <a:t>Пониження розмірності моделі за рахунок властивостей досліджуваного процесу</a:t>
          </a:r>
          <a:endParaRPr lang="LID4096" sz="2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0382621-20F5-4E5B-B678-04AC19DFA81C}" type="parTrans" cxnId="{D6B788AE-C334-4E1F-A812-DA145F6F0F7A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B4FB0D3-1E80-4F8A-A152-A9D08B8501AC}" type="sibTrans" cxnId="{D6B788AE-C334-4E1F-A812-DA145F6F0F7A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D7345F2-83B2-4556-8D68-F710A5EE7197}">
      <dgm:prSet phldrT="[Текст]" custT="1"/>
      <dgm:spPr/>
      <dgm:t>
        <a:bodyPr/>
        <a:lstStyle/>
        <a:p>
          <a:pPr algn="just"/>
          <a:r>
            <a:rPr lang="uk-UA" sz="2400" dirty="0">
              <a:latin typeface="Verdana" panose="020B0604030504040204" pitchFamily="34" charset="0"/>
              <a:ea typeface="Verdana" panose="020B0604030504040204" pitchFamily="34" charset="0"/>
            </a:rPr>
            <a:t>Наприклад, </a:t>
          </a:r>
          <a:r>
            <a:rPr lang="uk-UA" sz="2400" dirty="0" err="1">
              <a:latin typeface="Verdana" panose="020B0604030504040204" pitchFamily="34" charset="0"/>
              <a:ea typeface="Verdana" panose="020B0604030504040204" pitchFamily="34" charset="0"/>
            </a:rPr>
            <a:t>осесиметричний</a:t>
          </a:r>
          <a:r>
            <a:rPr lang="uk-UA" sz="2400" dirty="0">
              <a:latin typeface="Verdana" panose="020B0604030504040204" pitchFamily="34" charset="0"/>
              <a:ea typeface="Verdana" panose="020B0604030504040204" pitchFamily="34" charset="0"/>
            </a:rPr>
            <a:t> випадок у полярних, циліндричних або сферичних координатах</a:t>
          </a:r>
          <a:r>
            <a:rPr lang="en-US" sz="2400" dirty="0">
              <a:latin typeface="Verdana" panose="020B0604030504040204" pitchFamily="34" charset="0"/>
              <a:ea typeface="Verdana" panose="020B0604030504040204" pitchFamily="34" charset="0"/>
            </a:rPr>
            <a:t>.</a:t>
          </a:r>
          <a:endParaRPr lang="LID4096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61C26A2-CA0A-4C82-8A28-9BA1F8CFE0EB}" type="parTrans" cxnId="{2553D7B9-87E7-4E06-909E-63E25E0912FE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71BF287-E05A-4376-9E09-D74591D3103F}" type="sibTrans" cxnId="{2553D7B9-87E7-4E06-909E-63E25E0912FE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810B309-93FA-4B8F-8244-E1BE78F0C48F}">
      <dgm:prSet phldrT="[Текст]" custT="1"/>
      <dgm:spPr/>
      <dgm:t>
        <a:bodyPr/>
        <a:lstStyle/>
        <a:p>
          <a:pPr algn="just"/>
          <a:r>
            <a:rPr lang="uk-UA" sz="2800" dirty="0">
              <a:latin typeface="Verdana" panose="020B0604030504040204" pitchFamily="34" charset="0"/>
              <a:ea typeface="Verdana" panose="020B0604030504040204" pitchFamily="34" charset="0"/>
            </a:rPr>
            <a:t>Пониження розмірності моделі і формування її властивостей на основі розв’язків всіх її </a:t>
          </a:r>
          <a:r>
            <a:rPr lang="uk-UA" sz="2800" dirty="0" err="1">
              <a:latin typeface="Verdana" panose="020B0604030504040204" pitchFamily="34" charset="0"/>
              <a:ea typeface="Verdana" panose="020B0604030504040204" pitchFamily="34" charset="0"/>
            </a:rPr>
            <a:t>підмоделей</a:t>
          </a:r>
          <a:r>
            <a:rPr lang="uk-UA" sz="2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LID4096" sz="2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CF58DEC-7AD6-422B-80B6-490DF54C4227}" type="parTrans" cxnId="{40241034-6F84-4409-9692-88EEF6949075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50A0C69-8E0B-4C06-9766-95490C69F9CE}" type="sibTrans" cxnId="{40241034-6F84-4409-9692-88EEF6949075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297A377-EA36-4571-A037-9E299391FF21}">
      <dgm:prSet phldrT="[Текст]" custT="1"/>
      <dgm:spPr/>
      <dgm:t>
        <a:bodyPr/>
        <a:lstStyle/>
        <a:p>
          <a:pPr algn="just"/>
          <a:r>
            <a:rPr lang="uk-UA" sz="2400" dirty="0">
              <a:latin typeface="Verdana" panose="020B0604030504040204" pitchFamily="34" charset="0"/>
              <a:ea typeface="Verdana" panose="020B0604030504040204" pitchFamily="34" charset="0"/>
            </a:rPr>
            <a:t>Наприклад, використання інструментарію знаходження чисельного розв’язку двовимірного рівняння математичної фізики через неодноразовий виклик процедури знаходження чисельного розв’язку граничної задачі для звичайного диференціального рівняння.</a:t>
          </a:r>
          <a:endParaRPr lang="LID4096" sz="2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03B5E9B-D21C-472B-A767-12379D785841}" type="parTrans" cxnId="{1CDDD83E-0E5C-4207-B7C5-C5E518462DCB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51FD7E6-7F49-4EB1-83D0-D5E97F0EA47D}" type="sibTrans" cxnId="{1CDDD83E-0E5C-4207-B7C5-C5E518462DCB}">
      <dgm:prSet/>
      <dgm:spPr/>
      <dgm:t>
        <a:bodyPr/>
        <a:lstStyle/>
        <a:p>
          <a:endParaRPr lang="LID4096" sz="16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C6D9C5A-2711-4C14-B43F-762E5588196C}" type="pres">
      <dgm:prSet presAssocID="{3280896C-7797-4476-A2F2-5D171E4C86B9}" presName="linear" presStyleCnt="0">
        <dgm:presLayoutVars>
          <dgm:animLvl val="lvl"/>
          <dgm:resizeHandles val="exact"/>
        </dgm:presLayoutVars>
      </dgm:prSet>
      <dgm:spPr/>
    </dgm:pt>
    <dgm:pt modelId="{62D2345F-0D3B-4100-8B0E-CC58A9EE5088}" type="pres">
      <dgm:prSet presAssocID="{E580BFBD-156C-419B-9D1B-FBB52AA502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0FF104-6BEB-4051-BCB3-DE22545CA234}" type="pres">
      <dgm:prSet presAssocID="{E580BFBD-156C-419B-9D1B-FBB52AA502B5}" presName="childText" presStyleLbl="revTx" presStyleIdx="0" presStyleCnt="2">
        <dgm:presLayoutVars>
          <dgm:bulletEnabled val="1"/>
        </dgm:presLayoutVars>
      </dgm:prSet>
      <dgm:spPr/>
    </dgm:pt>
    <dgm:pt modelId="{B35FA265-0F0D-4310-B70C-5630FA9D86DF}" type="pres">
      <dgm:prSet presAssocID="{4810B309-93FA-4B8F-8244-E1BE78F0C4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E357ED1-B337-42E8-A752-4FCC802A0970}" type="pres">
      <dgm:prSet presAssocID="{4810B309-93FA-4B8F-8244-E1BE78F0C48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030DA2D-2F4D-4A9B-9FA7-5F913EF009F7}" type="presOf" srcId="{3280896C-7797-4476-A2F2-5D171E4C86B9}" destId="{DC6D9C5A-2711-4C14-B43F-762E5588196C}" srcOrd="0" destOrd="0" presId="urn:microsoft.com/office/officeart/2005/8/layout/vList2"/>
    <dgm:cxn modelId="{40241034-6F84-4409-9692-88EEF6949075}" srcId="{3280896C-7797-4476-A2F2-5D171E4C86B9}" destId="{4810B309-93FA-4B8F-8244-E1BE78F0C48F}" srcOrd="1" destOrd="0" parTransId="{CCF58DEC-7AD6-422B-80B6-490DF54C4227}" sibTransId="{250A0C69-8E0B-4C06-9766-95490C69F9CE}"/>
    <dgm:cxn modelId="{DA6ACF34-8062-48AD-8B6D-425948C2348E}" type="presOf" srcId="{E580BFBD-156C-419B-9D1B-FBB52AA502B5}" destId="{62D2345F-0D3B-4100-8B0E-CC58A9EE5088}" srcOrd="0" destOrd="0" presId="urn:microsoft.com/office/officeart/2005/8/layout/vList2"/>
    <dgm:cxn modelId="{1CDDD83E-0E5C-4207-B7C5-C5E518462DCB}" srcId="{4810B309-93FA-4B8F-8244-E1BE78F0C48F}" destId="{C297A377-EA36-4571-A037-9E299391FF21}" srcOrd="0" destOrd="0" parTransId="{103B5E9B-D21C-472B-A767-12379D785841}" sibTransId="{651FD7E6-7F49-4EB1-83D0-D5E97F0EA47D}"/>
    <dgm:cxn modelId="{D6B788AE-C334-4E1F-A812-DA145F6F0F7A}" srcId="{3280896C-7797-4476-A2F2-5D171E4C86B9}" destId="{E580BFBD-156C-419B-9D1B-FBB52AA502B5}" srcOrd="0" destOrd="0" parTransId="{40382621-20F5-4E5B-B678-04AC19DFA81C}" sibTransId="{CB4FB0D3-1E80-4F8A-A152-A9D08B8501AC}"/>
    <dgm:cxn modelId="{7732A3B0-F05A-410E-BCC7-D4D9FAD2B605}" type="presOf" srcId="{DD7345F2-83B2-4556-8D68-F710A5EE7197}" destId="{220FF104-6BEB-4051-BCB3-DE22545CA234}" srcOrd="0" destOrd="0" presId="urn:microsoft.com/office/officeart/2005/8/layout/vList2"/>
    <dgm:cxn modelId="{2553D7B9-87E7-4E06-909E-63E25E0912FE}" srcId="{E580BFBD-156C-419B-9D1B-FBB52AA502B5}" destId="{DD7345F2-83B2-4556-8D68-F710A5EE7197}" srcOrd="0" destOrd="0" parTransId="{A61C26A2-CA0A-4C82-8A28-9BA1F8CFE0EB}" sibTransId="{571BF287-E05A-4376-9E09-D74591D3103F}"/>
    <dgm:cxn modelId="{B14085BB-4F43-4490-A833-A7EA2E554FA0}" type="presOf" srcId="{4810B309-93FA-4B8F-8244-E1BE78F0C48F}" destId="{B35FA265-0F0D-4310-B70C-5630FA9D86DF}" srcOrd="0" destOrd="0" presId="urn:microsoft.com/office/officeart/2005/8/layout/vList2"/>
    <dgm:cxn modelId="{67C84FCF-D653-42AA-99E0-E550CC0FF0EC}" type="presOf" srcId="{C297A377-EA36-4571-A037-9E299391FF21}" destId="{BE357ED1-B337-42E8-A752-4FCC802A0970}" srcOrd="0" destOrd="0" presId="urn:microsoft.com/office/officeart/2005/8/layout/vList2"/>
    <dgm:cxn modelId="{B68626A9-D013-4880-8B66-C21308307F6B}" type="presParOf" srcId="{DC6D9C5A-2711-4C14-B43F-762E5588196C}" destId="{62D2345F-0D3B-4100-8B0E-CC58A9EE5088}" srcOrd="0" destOrd="0" presId="urn:microsoft.com/office/officeart/2005/8/layout/vList2"/>
    <dgm:cxn modelId="{7B209CA5-A78C-4D24-9432-64B321D66D2D}" type="presParOf" srcId="{DC6D9C5A-2711-4C14-B43F-762E5588196C}" destId="{220FF104-6BEB-4051-BCB3-DE22545CA234}" srcOrd="1" destOrd="0" presId="urn:microsoft.com/office/officeart/2005/8/layout/vList2"/>
    <dgm:cxn modelId="{C8B6C4A2-57BA-4BA3-AE44-D66A8934FD05}" type="presParOf" srcId="{DC6D9C5A-2711-4C14-B43F-762E5588196C}" destId="{B35FA265-0F0D-4310-B70C-5630FA9D86DF}" srcOrd="2" destOrd="0" presId="urn:microsoft.com/office/officeart/2005/8/layout/vList2"/>
    <dgm:cxn modelId="{E09370B5-AAF7-4EF8-8253-D7C043C07420}" type="presParOf" srcId="{DC6D9C5A-2711-4C14-B43F-762E5588196C}" destId="{BE357ED1-B337-42E8-A752-4FCC802A097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2345F-0D3B-4100-8B0E-CC58A9EE5088}">
      <dsp:nvSpPr>
        <dsp:cNvPr id="0" name=""/>
        <dsp:cNvSpPr/>
      </dsp:nvSpPr>
      <dsp:spPr>
        <a:xfrm>
          <a:off x="0" y="3182"/>
          <a:ext cx="11828462" cy="1179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kern="1200" dirty="0">
              <a:latin typeface="Verdana" panose="020B0604030504040204" pitchFamily="34" charset="0"/>
              <a:ea typeface="Verdana" panose="020B0604030504040204" pitchFamily="34" charset="0"/>
            </a:rPr>
            <a:t>Пониження розмірності моделі за рахунок властивостей досліджуваного процесу</a:t>
          </a:r>
          <a:endParaRPr lang="LID4096" sz="2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7572" y="60754"/>
        <a:ext cx="11713318" cy="1064216"/>
      </dsp:txXfrm>
    </dsp:sp>
    <dsp:sp modelId="{220FF104-6BEB-4051-BCB3-DE22545CA234}">
      <dsp:nvSpPr>
        <dsp:cNvPr id="0" name=""/>
        <dsp:cNvSpPr/>
      </dsp:nvSpPr>
      <dsp:spPr>
        <a:xfrm>
          <a:off x="0" y="1182542"/>
          <a:ext cx="11828462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554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400" kern="1200" dirty="0">
              <a:latin typeface="Verdana" panose="020B0604030504040204" pitchFamily="34" charset="0"/>
              <a:ea typeface="Verdana" panose="020B0604030504040204" pitchFamily="34" charset="0"/>
            </a:rPr>
            <a:t>Наприклад, </a:t>
          </a:r>
          <a:r>
            <a:rPr lang="uk-UA" sz="2400" kern="1200" dirty="0" err="1">
              <a:latin typeface="Verdana" panose="020B0604030504040204" pitchFamily="34" charset="0"/>
              <a:ea typeface="Verdana" panose="020B0604030504040204" pitchFamily="34" charset="0"/>
            </a:rPr>
            <a:t>осесиметричний</a:t>
          </a:r>
          <a:r>
            <a:rPr lang="uk-UA" sz="2400" kern="1200" dirty="0">
              <a:latin typeface="Verdana" panose="020B0604030504040204" pitchFamily="34" charset="0"/>
              <a:ea typeface="Verdana" panose="020B0604030504040204" pitchFamily="34" charset="0"/>
            </a:rPr>
            <a:t> випадок у полярних, циліндричних або сферичних координатах</a:t>
          </a:r>
          <a:r>
            <a:rPr lang="en-US" sz="2400" kern="1200" dirty="0">
              <a:latin typeface="Verdana" panose="020B0604030504040204" pitchFamily="34" charset="0"/>
              <a:ea typeface="Verdana" panose="020B0604030504040204" pitchFamily="34" charset="0"/>
            </a:rPr>
            <a:t>.</a:t>
          </a:r>
          <a:endParaRPr lang="LID4096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1182542"/>
        <a:ext cx="11828462" cy="1043280"/>
      </dsp:txXfrm>
    </dsp:sp>
    <dsp:sp modelId="{B35FA265-0F0D-4310-B70C-5630FA9D86DF}">
      <dsp:nvSpPr>
        <dsp:cNvPr id="0" name=""/>
        <dsp:cNvSpPr/>
      </dsp:nvSpPr>
      <dsp:spPr>
        <a:xfrm>
          <a:off x="0" y="2225822"/>
          <a:ext cx="11828462" cy="1179360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kern="1200" dirty="0">
              <a:latin typeface="Verdana" panose="020B0604030504040204" pitchFamily="34" charset="0"/>
              <a:ea typeface="Verdana" panose="020B0604030504040204" pitchFamily="34" charset="0"/>
            </a:rPr>
            <a:t>Пониження розмірності моделі і формування її властивостей на основі розв’язків всіх її </a:t>
          </a:r>
          <a:r>
            <a:rPr lang="uk-UA" sz="2800" kern="1200" dirty="0" err="1">
              <a:latin typeface="Verdana" panose="020B0604030504040204" pitchFamily="34" charset="0"/>
              <a:ea typeface="Verdana" panose="020B0604030504040204" pitchFamily="34" charset="0"/>
            </a:rPr>
            <a:t>підмоделей</a:t>
          </a:r>
          <a:r>
            <a:rPr lang="uk-UA" sz="2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LID4096" sz="2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7572" y="2283394"/>
        <a:ext cx="11713318" cy="1064216"/>
      </dsp:txXfrm>
    </dsp:sp>
    <dsp:sp modelId="{BE357ED1-B337-42E8-A752-4FCC802A0970}">
      <dsp:nvSpPr>
        <dsp:cNvPr id="0" name=""/>
        <dsp:cNvSpPr/>
      </dsp:nvSpPr>
      <dsp:spPr>
        <a:xfrm>
          <a:off x="0" y="3405182"/>
          <a:ext cx="11828462" cy="176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554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400" kern="1200" dirty="0">
              <a:latin typeface="Verdana" panose="020B0604030504040204" pitchFamily="34" charset="0"/>
              <a:ea typeface="Verdana" panose="020B0604030504040204" pitchFamily="34" charset="0"/>
            </a:rPr>
            <a:t>Наприклад, використання інструментарію знаходження чисельного розв’язку двовимірного рівняння математичної фізики через неодноразовий виклик процедури знаходження чисельного розв’язку граничної задачі для звичайного диференціального рівняння.</a:t>
          </a:r>
          <a:endParaRPr lang="LID4096" sz="2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0" y="3405182"/>
        <a:ext cx="11828462" cy="17605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>
            <a:extLst>
              <a:ext uri="{FF2B5EF4-FFF2-40B4-BE49-F238E27FC236}">
                <a16:creationId xmlns:a16="http://schemas.microsoft.com/office/drawing/2014/main" id="{05DFEA8B-6C25-49B9-8E37-F67260F8CD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14044CB-FE5E-464C-9690-AAD787532B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76E56-BFF3-47E6-AE21-B443F4F6BD8D}" type="datetimeFigureOut">
              <a:rPr lang="uk-UA" smtClean="0"/>
              <a:t>2023-12-17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A10218C-48D9-4101-8B2C-A5594E9595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0B01674-3986-40D5-9729-60A88CC777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AAA9C-BFEA-4E5F-9853-59045B78CE9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8317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33132-9905-4923-A5AB-074D3886BFC8}" type="datetimeFigureOut">
              <a:rPr lang="uk-UA" smtClean="0"/>
              <a:t>2023-12-17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93A74-A7C9-4F9E-BD29-0F3D64FC5E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929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93A74-A7C9-4F9E-BD29-0F3D64FC5E2E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317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93A74-A7C9-4F9E-BD29-0F3D64FC5E2E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663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C9314-6DAA-452F-9500-8167C41BD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717" y="2254469"/>
            <a:ext cx="11735310" cy="1174531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anchor="ctr">
            <a:normAutofit/>
          </a:bodyPr>
          <a:lstStyle>
            <a:lvl1pPr algn="ctr">
              <a:defRPr sz="2200" b="1" cap="all" baseline="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uk-UA" dirty="0"/>
              <a:t>Клацніть, щоб редагувати стиль зразка заголовка</a:t>
            </a:r>
          </a:p>
        </p:txBody>
      </p:sp>
      <p:sp>
        <p:nvSpPr>
          <p:cNvPr id="8" name="Підзаголовок 2">
            <a:extLst>
              <a:ext uri="{FF2B5EF4-FFF2-40B4-BE49-F238E27FC236}">
                <a16:creationId xmlns:a16="http://schemas.microsoft.com/office/drawing/2014/main" id="{0D21198B-EFBF-4D23-BD96-5D25608E99EE}"/>
              </a:ext>
            </a:extLst>
          </p:cNvPr>
          <p:cNvSpPr txBox="1">
            <a:spLocks/>
          </p:cNvSpPr>
          <p:nvPr userDrawn="1"/>
        </p:nvSpPr>
        <p:spPr>
          <a:xfrm>
            <a:off x="4595351" y="6390968"/>
            <a:ext cx="3001297" cy="467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sz="1800" b="1" dirty="0">
                <a:latin typeface="Book Antiqua" panose="02040602050305030304" pitchFamily="18" charset="0"/>
                <a:ea typeface="Verdana" panose="020B0604030504040204" pitchFamily="34" charset="0"/>
              </a:rPr>
              <a:t>Київ – ІЗЕ – 2023</a:t>
            </a:r>
          </a:p>
        </p:txBody>
      </p:sp>
    </p:spTree>
    <p:extLst>
      <p:ext uri="{BB962C8B-B14F-4D97-AF65-F5344CB8AC3E}">
        <p14:creationId xmlns:p14="http://schemas.microsoft.com/office/powerpoint/2010/main" val="262133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904B6-C432-4D52-BDEF-B6F8B04D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8" y="206479"/>
            <a:ext cx="10236199" cy="589388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lgDashDot"/>
          </a:ln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6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uk-UA" dirty="0"/>
              <a:t>Клацніть, щоб редагувати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CB1568-98D4-4A21-993E-24FBA99BD5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6981" y="1007533"/>
            <a:ext cx="11828206" cy="5169430"/>
          </a:xfrm>
          <a:ln>
            <a:solidFill>
              <a:schemeClr val="tx1"/>
            </a:solidFill>
            <a:prstDash val="lgDash"/>
          </a:ln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9144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13716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7145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21717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90AC0-CDB6-4C93-A659-F9E0DF94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6814" y="6356350"/>
            <a:ext cx="10267826" cy="365125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A3481E-B43E-4FC6-B427-6CE0EFE6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7360" y="6356350"/>
            <a:ext cx="1377826" cy="36512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fld id="{F3A3E1D7-D316-49E5-89A8-CE7FC068F28A}" type="slidenum">
              <a:rPr lang="uk-UA" smtClean="0"/>
              <a:pPr/>
              <a:t>‹№›</a:t>
            </a:fld>
            <a:r>
              <a:rPr lang="en-US" dirty="0"/>
              <a:t>/1</a:t>
            </a:r>
            <a:r>
              <a:rPr lang="uk-UA" dirty="0"/>
              <a:t>0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B9FD082-7A38-4624-A45B-2F04975CA8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757" y="79483"/>
            <a:ext cx="798409" cy="85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646AB936-F5ED-45D0-B7C6-59F2D62225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" y="103768"/>
            <a:ext cx="840696" cy="79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51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904B6-C432-4D52-BDEF-B6F8B04D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8" y="206479"/>
            <a:ext cx="10236199" cy="589388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prstDash val="lgDashDot"/>
          </a:ln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600"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uk-UA" dirty="0"/>
              <a:t>Клацніть, щоб редагувати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CB1568-98D4-4A21-993E-24FBA99B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007533"/>
            <a:ext cx="11828206" cy="5169430"/>
          </a:xfrm>
          <a:ln>
            <a:solidFill>
              <a:schemeClr val="tx1"/>
            </a:solidFill>
            <a:prstDash val="lgDash"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1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 b="1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="1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 b="1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 b="1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uk-UA" dirty="0"/>
              <a:t>Клацніть, щоб відредагувати стилі зразків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90AC0-CDB6-4C93-A659-F9E0DF94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6814" y="6356350"/>
            <a:ext cx="10267826" cy="365125"/>
          </a:xfr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DA3481E-B43E-4FC6-B427-6CE0EFE6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7360" y="6356350"/>
            <a:ext cx="1377826" cy="365125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fld id="{F3A3E1D7-D316-49E5-89A8-CE7FC068F28A}" type="slidenum">
              <a:rPr lang="uk-UA" smtClean="0"/>
              <a:pPr/>
              <a:t>‹№›</a:t>
            </a:fld>
            <a:r>
              <a:rPr lang="en-US" dirty="0"/>
              <a:t>/24</a:t>
            </a:r>
            <a:endParaRPr lang="uk-UA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2582F0F-49FA-4FC9-9B2F-BBF1F3C2A2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6757" y="79483"/>
            <a:ext cx="798409" cy="85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0CE03906-AD62-4A88-B2CD-8E2668A1646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42" y="103768"/>
            <a:ext cx="840696" cy="79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6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CB1568-98D4-4A21-993E-24FBA99BD5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6981" y="1007533"/>
            <a:ext cx="11828206" cy="5169430"/>
          </a:xfrm>
          <a:ln>
            <a:noFill/>
            <a:prstDash val="lgDash"/>
          </a:ln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5400" b="1">
                <a:latin typeface="Book Antiqua" panose="02040602050305030304" pitchFamily="18" charset="0"/>
                <a:ea typeface="Verdana" panose="020B0604030504040204" pitchFamily="34" charset="0"/>
                <a:sym typeface="Wingdings" panose="05000000000000000000" pitchFamily="2" charset="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uk-UA" dirty="0"/>
              <a:t>ДЯКУЮ ЗА УВАГУ! </a:t>
            </a:r>
          </a:p>
          <a:p>
            <a:pPr lvl="0"/>
            <a:r>
              <a:rPr lang="uk-UA" dirty="0"/>
              <a:t>☺</a:t>
            </a:r>
          </a:p>
        </p:txBody>
      </p:sp>
    </p:spTree>
    <p:extLst>
      <p:ext uri="{BB962C8B-B14F-4D97-AF65-F5344CB8AC3E}">
        <p14:creationId xmlns:p14="http://schemas.microsoft.com/office/powerpoint/2010/main" val="194348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63A4C-8460-42F4-8BCC-AC2592BC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3D3C422-4343-442B-95DD-2E19320CA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A752251-58BA-47C9-9EDA-685A3B0B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EAB94C0-154F-41B0-8F67-386AAD81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DBAAF68-D9A4-4BD2-87F9-4C0A5545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199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D032B-29B7-4B3D-A3E9-3B72F34F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730405-ED24-41C4-9FEE-A94BB3D4D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D194692-3605-4009-A0FC-92745599E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E1BC5B5-17A3-4835-8DCC-43CB047C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6936B23-7EF5-4780-8FF3-44E76DD2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7946BD8-82F5-4BA8-8304-B26695E5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015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301EC-3456-4879-8FD1-09BC7E1E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8F73F97-AD12-4FBE-A124-162D5271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160F321-E972-4D52-871D-A2FD409DB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0D77638-D210-4CE7-8ED3-AF8877A27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37C7591-58EC-4D55-86C1-75A1CB655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3DEE55F-80F9-452F-96CE-BB2603B0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3BEE929-1B5C-4D2E-99B0-B802A452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6F646FD-0225-4980-8F65-53E2A8A4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43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82F45-2E9A-43F3-901B-9CE57F2E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1E0F066-29F2-477B-B275-34079F93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F402FC99-4B96-40F4-B1B8-53878B1E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B46EB1D-5C99-428E-8427-5690B7D6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857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63A2743-5B2F-4D4B-8CB7-8254423B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69EEB58-B2FE-489B-834D-5CACD826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111A2F9-C4D8-4061-B641-98909DCE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607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3B0C7-4FCB-4237-ABB5-7A20E8DC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7CC892-8A4C-4EC8-A5D5-0D7931AE0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683F956-B6E1-449A-BE75-82AE7C231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8CD5969-7A30-43F6-81F4-095B7584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928A0D2-F2B1-41A5-80F4-2178C979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994C73A-C1DC-40F1-9CBF-54570F05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006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9254B-C2B9-40EB-90CB-6A80EDF6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636A7BB-1C67-4789-AB4D-B025BD48D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64948E5-3F76-4AAC-A96E-F6D27526B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057A6C0-9083-4F88-AF07-5DBF837B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0C9A2F9-7CFE-4398-BB18-7EEDA02F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E323DD-FF07-41C8-A80A-9F48699F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8713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FCCAC-6E54-48D4-B023-46C10B10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03B306AB-3F70-4ACC-B056-024A0431E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F78065-5E7B-4CF4-B763-CDD60CE7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C8069B5-8235-4BDA-AC54-DE5564B4D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B04D81-E96A-4853-AA30-CD0E7955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7758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6F986E9-20A2-469F-B46A-3FCF0A399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77790FD-699C-4F2C-AB32-FF2ACAD83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83A8520-5D74-4777-B9B6-4E623775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8A22729-ADAB-4CE6-AC4E-78D242D3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85C078A-040C-402D-9051-CD8880E3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702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DB1EB7C-DCDD-4FD3-8C61-AC751956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6481F9F-8068-4B84-8634-CBA0A9F2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E22FBE-567B-483A-9110-A4474086E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99EB9A0-B45D-445E-ADC0-AB0697336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63EC96-99D7-4FAB-8C0F-3D0CBB5E6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3E1D7-D316-49E5-89A8-CE7FC068F28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780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0.png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18DC0F-D979-4522-B55C-ACB69EBB0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717" y="2254469"/>
            <a:ext cx="11735310" cy="163173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uk-UA" dirty="0" err="1"/>
              <a:t>задачІ</a:t>
            </a:r>
            <a:r>
              <a:rPr lang="uk-UA" dirty="0"/>
              <a:t> реконструкції візуальних образів.</a:t>
            </a:r>
            <a:br>
              <a:rPr lang="en-US" dirty="0"/>
            </a:br>
            <a:r>
              <a:rPr lang="uk-UA" dirty="0"/>
              <a:t>Методи й алгоритми зменшення обчислювальної складності у процесі знаходження чисельного розв’язку рівняння Пуассона</a:t>
            </a:r>
          </a:p>
        </p:txBody>
      </p:sp>
      <p:pic>
        <p:nvPicPr>
          <p:cNvPr id="1026" name="Picture 2" descr="456,454 Transformation Images, Stock Photos &amp; Vectors | Shutterstock">
            <a:extLst>
              <a:ext uri="{FF2B5EF4-FFF2-40B4-BE49-F238E27FC236}">
                <a16:creationId xmlns:a16="http://schemas.microsoft.com/office/drawing/2014/main" id="{66778D05-73D1-40E3-9B62-D7259D355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6"/>
          <a:stretch/>
        </p:blipFill>
        <p:spPr bwMode="auto">
          <a:xfrm>
            <a:off x="237046" y="3918858"/>
            <a:ext cx="5035274" cy="253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. Resampling methods: (a) nearest neighbor, (b) bilinear... | Download  Scientific Diagram">
            <a:extLst>
              <a:ext uri="{FF2B5EF4-FFF2-40B4-BE49-F238E27FC236}">
                <a16:creationId xmlns:a16="http://schemas.microsoft.com/office/drawing/2014/main" id="{F79D4489-BD6F-4656-B850-D56C03814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290" y="187999"/>
            <a:ext cx="5642311" cy="194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 optimized solution for face recognition | MIT News | Massachusetts  Institute of Technology">
            <a:extLst>
              <a:ext uri="{FF2B5EF4-FFF2-40B4-BE49-F238E27FC236}">
                <a16:creationId xmlns:a16="http://schemas.microsoft.com/office/drawing/2014/main" id="{BEBB3D0F-165F-4BE0-AB18-C7F01B4CD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770" y="4195481"/>
            <a:ext cx="3459257" cy="230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51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C6F58-752C-4C87-AA58-FFE2170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8" y="206479"/>
            <a:ext cx="10236199" cy="589388"/>
          </a:xfrm>
        </p:spPr>
        <p:txBody>
          <a:bodyPr>
            <a:normAutofit fontScale="90000"/>
          </a:bodyPr>
          <a:lstStyle/>
          <a:p>
            <a:r>
              <a:rPr lang="uk-UA" dirty="0"/>
              <a:t>Структура доповіді</a:t>
            </a:r>
          </a:p>
        </p:txBody>
      </p:sp>
      <p:sp>
        <p:nvSpPr>
          <p:cNvPr id="9" name="Місце для вмісту 8">
            <a:extLst>
              <a:ext uri="{FF2B5EF4-FFF2-40B4-BE49-F238E27FC236}">
                <a16:creationId xmlns:a16="http://schemas.microsoft.com/office/drawing/2014/main" id="{9B0147ED-2229-4A4C-A717-611093EA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lnSpc>
                <a:spcPct val="114000"/>
              </a:lnSpc>
              <a:buFont typeface="+mj-lt"/>
              <a:buAutoNum type="arabicPeriod"/>
            </a:pPr>
            <a:r>
              <a:rPr lang="uk-UA" sz="2200" dirty="0"/>
              <a:t>Актуальність досліджень</a:t>
            </a:r>
          </a:p>
          <a:p>
            <a:pPr marL="457200" indent="-457200" algn="just">
              <a:lnSpc>
                <a:spcPct val="114000"/>
              </a:lnSpc>
              <a:buFont typeface="+mj-lt"/>
              <a:buAutoNum type="arabicPeriod"/>
            </a:pPr>
            <a:r>
              <a:rPr lang="uk-UA" sz="2200" dirty="0"/>
              <a:t>Основна проблематика моделювання </a:t>
            </a:r>
            <a:r>
              <a:rPr lang="uk-UA" sz="2200" dirty="0" err="1"/>
              <a:t>теплоперенесення</a:t>
            </a:r>
            <a:endParaRPr lang="uk-UA" sz="1800" dirty="0"/>
          </a:p>
          <a:p>
            <a:pPr marL="457200" indent="-457200" algn="just">
              <a:lnSpc>
                <a:spcPct val="114000"/>
              </a:lnSpc>
              <a:buFont typeface="+mj-lt"/>
              <a:buAutoNum type="arabicPeriod"/>
            </a:pPr>
            <a:r>
              <a:rPr lang="uk-UA" sz="2200" dirty="0"/>
              <a:t>Шляхи зменшення обчислювальних затрат для задачі математичного і комп’ютерного моделювання:</a:t>
            </a:r>
          </a:p>
          <a:p>
            <a:pPr marL="914400" lvl="1" indent="-457200" algn="just">
              <a:lnSpc>
                <a:spcPct val="114000"/>
              </a:lnSpc>
              <a:buFont typeface="+mj-lt"/>
              <a:buAutoNum type="arabicParenR"/>
            </a:pPr>
            <a:r>
              <a:rPr lang="uk-UA" sz="1800" b="0" dirty="0"/>
              <a:t>пониження розмірності моделі (за можливістю)</a:t>
            </a:r>
            <a:r>
              <a:rPr lang="en-US" sz="1800" b="0" dirty="0"/>
              <a:t>;</a:t>
            </a:r>
            <a:endParaRPr lang="uk-UA" sz="1800" b="0" dirty="0"/>
          </a:p>
          <a:p>
            <a:pPr marL="914400" lvl="1" indent="-457200" algn="just">
              <a:lnSpc>
                <a:spcPct val="114000"/>
              </a:lnSpc>
              <a:buFont typeface="+mj-lt"/>
              <a:buAutoNum type="arabicParenR"/>
            </a:pPr>
            <a:r>
              <a:rPr lang="uk-UA" sz="1800" b="0" dirty="0"/>
              <a:t>декомпозиція математичної моделі та / або декомпозиція області розрахунків</a:t>
            </a:r>
            <a:r>
              <a:rPr lang="en-US" sz="1800" b="0" dirty="0"/>
              <a:t>;</a:t>
            </a:r>
            <a:endParaRPr lang="uk-UA" sz="1800" b="0" dirty="0"/>
          </a:p>
          <a:p>
            <a:pPr marL="914400" lvl="1" indent="-457200" algn="just">
              <a:lnSpc>
                <a:spcPct val="114000"/>
              </a:lnSpc>
              <a:buFont typeface="+mj-lt"/>
              <a:buAutoNum type="arabicParenR"/>
            </a:pPr>
            <a:r>
              <a:rPr lang="uk-UA" sz="1800" b="0" dirty="0"/>
              <a:t>уведення багатосіткового методу;</a:t>
            </a:r>
          </a:p>
          <a:p>
            <a:pPr marL="914400" lvl="1" indent="-457200" algn="just">
              <a:lnSpc>
                <a:spcPct val="114000"/>
              </a:lnSpc>
              <a:buFont typeface="+mj-lt"/>
              <a:buAutoNum type="arabicParenR"/>
            </a:pPr>
            <a:r>
              <a:rPr lang="uk-UA" sz="1800" b="0" dirty="0"/>
              <a:t>використання методу кінцевих елементів (МКЕ) замість методу кінцевих різниць (МКР) для об’єктів складної геометричної форми;</a:t>
            </a:r>
          </a:p>
          <a:p>
            <a:pPr marL="914400" lvl="1" indent="-457200" algn="just">
              <a:lnSpc>
                <a:spcPct val="114000"/>
              </a:lnSpc>
              <a:buFont typeface="+mj-lt"/>
              <a:buAutoNum type="arabicParenR"/>
            </a:pPr>
            <a:r>
              <a:rPr lang="uk-UA" sz="1800" b="0" dirty="0"/>
              <a:t>комбінація перерахованих вище пунктів.</a:t>
            </a:r>
          </a:p>
          <a:p>
            <a:pPr marL="0" indent="0" algn="just">
              <a:lnSpc>
                <a:spcPct val="114000"/>
              </a:lnSpc>
              <a:buNone/>
            </a:pPr>
            <a:r>
              <a:rPr lang="uk-UA" sz="2200" dirty="0"/>
              <a:t>Загальні висновки</a:t>
            </a:r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8523EF9-1863-422E-8116-5EF4CB24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6814" y="6356350"/>
            <a:ext cx="10267826" cy="365125"/>
          </a:xfrm>
        </p:spPr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B20097D8-1684-4FA3-966C-1D911767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2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9941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15271-0553-4FEB-A733-3CACCAE3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Актуальність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57CEAD-2FB3-4617-BF48-43BE63783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BCD5B2C-5C4F-49CB-BD4D-3E2BED25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80F0D678-5E10-47FB-9D47-B74BFA4F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3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  <p:pic>
        <p:nvPicPr>
          <p:cNvPr id="2050" name="Picture 2" descr="Source and Executable Download">
            <a:extLst>
              <a:ext uri="{FF2B5EF4-FFF2-40B4-BE49-F238E27FC236}">
                <a16:creationId xmlns:a16="http://schemas.microsoft.com/office/drawing/2014/main" id="{7A7C1FA3-6740-43EE-BF9D-32FE889D0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34" y="1091749"/>
            <a:ext cx="5174428" cy="233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GAL 5.5.2 - Poisson Surface Reconstruction: User Manual">
            <a:extLst>
              <a:ext uri="{FF2B5EF4-FFF2-40B4-BE49-F238E27FC236}">
                <a16:creationId xmlns:a16="http://schemas.microsoft.com/office/drawing/2014/main" id="{2CD09BEF-7A3C-4019-876D-2E67481E6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297" y="1125266"/>
            <a:ext cx="5354283" cy="227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hape Representation and Classification Using the Poisson Equation">
            <a:extLst>
              <a:ext uri="{FF2B5EF4-FFF2-40B4-BE49-F238E27FC236}">
                <a16:creationId xmlns:a16="http://schemas.microsoft.com/office/drawing/2014/main" id="{29A601CA-C40D-4BFF-A39D-1E4BA1EAB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20" y="3740619"/>
            <a:ext cx="466725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hape Representation and Classification Using the Poisson Equation">
            <a:extLst>
              <a:ext uri="{FF2B5EF4-FFF2-40B4-BE49-F238E27FC236}">
                <a16:creationId xmlns:a16="http://schemas.microsoft.com/office/drawing/2014/main" id="{9B72F3DA-E32F-4330-A30B-2D9AABE7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697" y="3823494"/>
            <a:ext cx="2690777" cy="202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hape Representation and Classification Using the Poisson Equation">
            <a:extLst>
              <a:ext uri="{FF2B5EF4-FFF2-40B4-BE49-F238E27FC236}">
                <a16:creationId xmlns:a16="http://schemas.microsoft.com/office/drawing/2014/main" id="{10E20D31-0352-4ED6-8C04-F553B4146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711" y="3971835"/>
            <a:ext cx="2493857" cy="187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53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C4D08-B01B-4A14-B286-42E4E5BE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Пониження розмірності моделі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5C8129-E750-42E1-8E29-98FC68823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755425"/>
              </p:ext>
            </p:extLst>
          </p:nvPr>
        </p:nvGraphicFramePr>
        <p:xfrm>
          <a:off x="176213" y="1008063"/>
          <a:ext cx="11828462" cy="5168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B885B03-B301-46BE-A03B-6232A09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293E7E93-5C74-4A18-B0D9-A51A0B73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4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0244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9F62C-FF47-499B-8682-055BA55B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Декомпозиція області</a:t>
            </a:r>
            <a:endParaRPr lang="LID4096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A2F7585-86DD-4ECC-B70A-DB594E7A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2CB3DF-9010-4D79-8746-527544CCD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081" y="1007534"/>
            <a:ext cx="2824447" cy="25443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D0B2AD-520B-430F-9833-5B6660B7650C}"/>
              </a:ext>
            </a:extLst>
          </p:cNvPr>
          <p:cNvSpPr txBox="1"/>
          <p:nvPr/>
        </p:nvSpPr>
        <p:spPr>
          <a:xfrm>
            <a:off x="219472" y="1007534"/>
            <a:ext cx="859570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19138" algn="just"/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У </a:t>
            </a:r>
            <a:r>
              <a:rPr lang="LID4096" sz="2400" dirty="0">
                <a:latin typeface="Verdana" panose="020B0604030504040204" pitchFamily="34" charset="0"/>
                <a:ea typeface="Verdana" panose="020B0604030504040204" pitchFamily="34" charset="0"/>
              </a:rPr>
              <a:t>диференціальних рівняннях </a:t>
            </a: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в</a:t>
            </a:r>
            <a:r>
              <a:rPr lang="LID4096" sz="2400" dirty="0">
                <a:latin typeface="Verdana" panose="020B0604030504040204" pitchFamily="34" charset="0"/>
                <a:ea typeface="Verdana" panose="020B0604030504040204" pitchFamily="34" charset="0"/>
              </a:rPr>
              <a:t> частинних похідних методи декомпозиції області розв’язують крайову задачу, розбиваючи її на менші крайові задачі на підобластях.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20DD0-E95A-4FC1-B0A5-76AB0DEE814A}"/>
              </a:ext>
            </a:extLst>
          </p:cNvPr>
          <p:cNvSpPr txBox="1"/>
          <p:nvPr/>
        </p:nvSpPr>
        <p:spPr>
          <a:xfrm>
            <a:off x="219472" y="2788861"/>
            <a:ext cx="85957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just"/>
            <a:r>
              <a:rPr lang="uk-UA" sz="2400" b="1" i="1" dirty="0">
                <a:latin typeface="Verdana" panose="020B0604030504040204" pitchFamily="34" charset="0"/>
                <a:ea typeface="Verdana" panose="020B0604030504040204" pitchFamily="34" charset="0"/>
              </a:rPr>
              <a:t>Переваги</a:t>
            </a:r>
          </a:p>
          <a:p>
            <a:pPr marL="538163" indent="-538163" algn="just">
              <a:buAutoNum type="arabicParenR"/>
            </a:pP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Підзадачі</a:t>
            </a:r>
            <a:r>
              <a:rPr lang="LID4096" sz="2400" dirty="0">
                <a:latin typeface="Verdana" panose="020B0604030504040204" pitchFamily="34" charset="0"/>
                <a:ea typeface="Verdana" panose="020B0604030504040204" pitchFamily="34" charset="0"/>
              </a:rPr>
              <a:t> на під</a:t>
            </a: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областях</a:t>
            </a:r>
            <a:r>
              <a:rPr lang="LID4096" sz="2400" dirty="0">
                <a:latin typeface="Verdana" panose="020B0604030504040204" pitchFamily="34" charset="0"/>
                <a:ea typeface="Verdana" panose="020B0604030504040204" pitchFamily="34" charset="0"/>
              </a:rPr>
              <a:t> незалежні, що робить методи декомпозиції домену придатними для паралельних обчислень</a:t>
            </a: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38163" indent="-538163" algn="just">
              <a:buAutoNum type="arabicParenR"/>
            </a:pP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зменшення обчислювальних затрат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у тому числі загальної кількості ітерацій);</a:t>
            </a:r>
          </a:p>
          <a:p>
            <a:pPr marL="538163" indent="-538163" algn="just">
              <a:buAutoNum type="arabicParenR"/>
            </a:pPr>
            <a:r>
              <a:rPr lang="uk-UA" sz="2400" dirty="0">
                <a:latin typeface="Verdana" panose="020B0604030504040204" pitchFamily="34" charset="0"/>
                <a:ea typeface="Verdana" panose="020B0604030504040204" pitchFamily="34" charset="0"/>
              </a:rPr>
              <a:t>можливість застосування як в МКР, так і в МКЕ.</a:t>
            </a:r>
          </a:p>
          <a:p>
            <a:pPr marL="342900" indent="-342900" algn="just">
              <a:buAutoNum type="arabicParenR"/>
            </a:pPr>
            <a:endParaRPr lang="uk-UA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AutoNum type="arabicParenR"/>
            </a:pPr>
            <a:endParaRPr lang="LID4096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B4187FE-3F72-465F-B562-3E2F9FEAE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675" y="3564646"/>
            <a:ext cx="2445579" cy="2411612"/>
          </a:xfrm>
          <a:prstGeom prst="rect">
            <a:avLst/>
          </a:prstGeom>
        </p:spPr>
      </p:pic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977B2CA1-BAA1-4DB1-B760-5E3A220D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5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4828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D220A-996A-4F5C-A32A-B58E2BC9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Декомпозиція області</a:t>
            </a:r>
            <a:endParaRPr lang="LID4096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8E03271-0618-4425-A8BD-11C1F91BC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LID4096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03BF8C4-8B24-4106-B5BC-D8C30EE2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1030" name="Picture 6" descr="Composite grid scheme. The domain decomposition is based on an N-node... |  Download Scientific Diagram">
            <a:extLst>
              <a:ext uri="{FF2B5EF4-FFF2-40B4-BE49-F238E27FC236}">
                <a16:creationId xmlns:a16="http://schemas.microsoft.com/office/drawing/2014/main" id="{E6AF3ACB-98F0-4B58-AD9C-F0C6BCFF1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8" y="1127368"/>
            <a:ext cx="9884230" cy="492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F0D2EBC-9F54-48C9-A815-A7C77A03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6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708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4D5DE-7ACA-407A-8AC9-C14C662E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Приклади декомпозиції області</a:t>
            </a:r>
            <a:endParaRPr lang="LID4096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7EB5F47-1A38-4678-A644-AF26C801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586D0AF-B648-40EC-83DB-27BEEF5E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2050" name="Picture 2" descr="A Review of Domain Decomposition Methods for Simulation of Fluid Flows:  Concepts, Algorithms, and Applications | SpringerLink">
            <a:extLst>
              <a:ext uri="{FF2B5EF4-FFF2-40B4-BE49-F238E27FC236}">
                <a16:creationId xmlns:a16="http://schemas.microsoft.com/office/drawing/2014/main" id="{580A14CC-74DE-4DA6-8001-368AD10E1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84" y="1118468"/>
            <a:ext cx="11587324" cy="430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2E2DE95-7EE5-4CD3-8F2F-CF2D4CD0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7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0260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E8F11-8E33-48A3-AFE2-59F52DBC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Основні методи декомпозиція області</a:t>
            </a:r>
            <a:endParaRPr lang="LID4096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84D7B28-D31B-486F-8260-82D2A7506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/>
              <a:t>	Перелік основних методів декомпозиції області:</a:t>
            </a:r>
            <a:endParaRPr lang="en-US" dirty="0"/>
          </a:p>
          <a:p>
            <a:pPr marL="277813" indent="0">
              <a:buNone/>
            </a:pPr>
            <a:r>
              <a:rPr lang="uk-UA" b="0" i="1" u="sng" dirty="0"/>
              <a:t>без перекриття:</a:t>
            </a:r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Дирихле-Дирихле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Дирихле-Неймана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Неймана-Дирихле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Неймана-Неймана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Робіна-Робіна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Дирихле-Дирихле – Неймана-Неймана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ru-RU" b="0" i="1" dirty="0"/>
              <a:t>метод Дирихле-Дирихле на </a:t>
            </a:r>
            <a:r>
              <a:rPr lang="ru-RU" b="0" i="1" dirty="0" err="1"/>
              <a:t>основі</a:t>
            </a:r>
            <a:r>
              <a:rPr lang="ru-RU" b="0" i="1" dirty="0"/>
              <a:t> методу Ньютона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Неймана-Неймана – Дирихле-Дирихле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ru-RU" b="0" i="1" dirty="0"/>
              <a:t>метод Неймана-Неймана на </a:t>
            </a:r>
            <a:r>
              <a:rPr lang="ru-RU" b="0" i="1" dirty="0" err="1"/>
              <a:t>основі</a:t>
            </a:r>
            <a:r>
              <a:rPr lang="ru-RU" b="0" i="1" dirty="0"/>
              <a:t> методу Ньютона</a:t>
            </a:r>
            <a:r>
              <a:rPr lang="en-US" b="0" i="1" dirty="0"/>
              <a:t>;</a:t>
            </a:r>
            <a:endParaRPr lang="uk-UA" b="0" i="1" dirty="0"/>
          </a:p>
          <a:p>
            <a:pPr marL="277813" indent="0">
              <a:buNone/>
            </a:pPr>
            <a:endParaRPr lang="uk-UA" b="0" i="1" u="sng" dirty="0"/>
          </a:p>
          <a:p>
            <a:pPr marL="277813" indent="0">
              <a:buNone/>
            </a:pPr>
            <a:r>
              <a:rPr lang="uk-UA" b="0" i="1" u="sng" dirty="0"/>
              <a:t>з перекриттям:</a:t>
            </a:r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Шварца (адитивний)</a:t>
            </a:r>
            <a:r>
              <a:rPr lang="en-US" b="0" i="1" dirty="0"/>
              <a:t>;</a:t>
            </a:r>
            <a:endParaRPr lang="uk-UA" b="0" i="1" dirty="0"/>
          </a:p>
          <a:p>
            <a:pPr marL="1338263" indent="-441325">
              <a:buFont typeface="Wingdings" panose="05000000000000000000" pitchFamily="2" charset="2"/>
              <a:buChar char="q"/>
            </a:pPr>
            <a:r>
              <a:rPr lang="uk-UA" b="0" i="1" dirty="0"/>
              <a:t>метод Шварца (мультиплікативний)</a:t>
            </a:r>
            <a:r>
              <a:rPr lang="en-US" b="0" i="1" dirty="0"/>
              <a:t>.</a:t>
            </a:r>
            <a:endParaRPr lang="uk-UA" b="0" i="1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03B1661-C2DE-4689-BB25-EE2BE50C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5D43EA-66D0-44D8-A6ED-9C74DFD7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155" y="1378410"/>
            <a:ext cx="4606969" cy="17403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85023A-F8F1-466C-B387-56E8A70D3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888" y="4227991"/>
            <a:ext cx="1933894" cy="1916314"/>
          </a:xfrm>
          <a:prstGeom prst="rect">
            <a:avLst/>
          </a:prstGeom>
        </p:spPr>
      </p:pic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58D71ACE-5D65-41D1-9C9F-ABA0499B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8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09257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583A4-5E93-4C8E-9FF3-BAEBB822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Розрахункова система координат</a:t>
            </a:r>
            <a:endParaRPr lang="LID4096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AFB16F-EEF0-4652-8305-D9CFC565E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37A1F37-F0D3-433B-86B9-7DC66C21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3074" name="Picture 2" descr="Domain decomposition involving subdomain separable space representations  for solving parametric problems in complex geometries | Advanced Modeling  and Simulation in Engineering Sciences | Full Text">
            <a:extLst>
              <a:ext uri="{FF2B5EF4-FFF2-40B4-BE49-F238E27FC236}">
                <a16:creationId xmlns:a16="http://schemas.microsoft.com/office/drawing/2014/main" id="{4E43399B-78ED-436C-B07B-78AA1B828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44" y="1056520"/>
            <a:ext cx="11649756" cy="491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EE6F61-6F8C-4AE7-8839-A2D8DE10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9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6957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B6326-64C3-4F84-B4EB-CC870568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700" dirty="0"/>
              <a:t>Декомпозиція області. Метод Неймана-Дирихле</a:t>
            </a:r>
            <a:endParaRPr lang="ru-UA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57316B-C42F-40AD-AAE5-6721F2CE2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ru-RU" sz="240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sz="24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Г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r>
                                        <a:rPr lang="uk-UA" sz="2400" i="1">
                                          <a:latin typeface="Cambria Math" panose="02040503050406030204" pitchFamily="18" charset="0"/>
                                        </a:rPr>
                                        <m:t>Г</m:t>
                                      </m:r>
                                    </m:e>
                                  </m:eqArr>
                                </m:e>
                              </m:d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Г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r>
                                        <a:rPr lang="uk-UA" sz="2400" i="1">
                                          <a:latin typeface="Cambria Math" panose="02040503050406030204" pitchFamily="18" charset="0"/>
                                        </a:rPr>
                                        <m:t>Г</m:t>
                                      </m:r>
                                    </m:e>
                                  </m:eqArr>
                                </m:e>
                              </m:d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Г</m:t>
                                  </m:r>
                                </m:sub>
                              </m:s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ru-RU" sz="240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uk-UA" sz="2200" b="0" dirty="0"/>
              </a:p>
            </p:txBody>
          </p:sp>
        </mc:Choice>
        <mc:Fallback xmlns="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57316B-C42F-40AD-AAE5-6721F2CE2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63ED6AD-9BFE-4125-843D-2028682C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FC1801-2FAC-4E43-8BEF-7C5E9E12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18" y="1731145"/>
            <a:ext cx="6047349" cy="45355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74FAB-84EF-4DF8-83A6-3DF7CF24189D}"/>
                  </a:ext>
                </a:extLst>
              </p:cNvPr>
              <p:cNvSpPr txBox="1"/>
              <p:nvPr/>
            </p:nvSpPr>
            <p:spPr>
              <a:xfrm>
                <a:off x="6591907" y="1007533"/>
                <a:ext cx="3862733" cy="95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74FAB-84EF-4DF8-83A6-3DF7CF241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907" y="1007533"/>
                <a:ext cx="3862733" cy="959430"/>
              </a:xfrm>
              <a:prstGeom prst="rect">
                <a:avLst/>
              </a:prstGeom>
              <a:blipFill>
                <a:blip r:embed="rId4"/>
                <a:stretch>
                  <a:fillRect b="-44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425EE4-DB9D-435B-BEAD-034757A68098}"/>
                  </a:ext>
                </a:extLst>
              </p:cNvPr>
              <p:cNvSpPr txBox="1"/>
              <p:nvPr/>
            </p:nvSpPr>
            <p:spPr>
              <a:xfrm>
                <a:off x="8425542" y="4867896"/>
                <a:ext cx="3717471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4096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𝑎𝑛𝑎𝑙𝑖𝑡𝑖𝑐</m:t>
                          </m:r>
                        </m:sub>
                      </m:sSub>
                      <m:r>
                        <a:rPr lang="LID4096" sz="2400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LID4096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LID4096" sz="24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LID4096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LID4096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LID4096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LID4096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ID4096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LID4096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LID4096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LID4096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LID4096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425EE4-DB9D-435B-BEAD-034757A68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542" y="4867896"/>
                <a:ext cx="3717471" cy="833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6FD7C51-A9BB-44AC-8DE1-5320F788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10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2341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B6326-64C3-4F84-B4EB-CC870568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700" dirty="0"/>
              <a:t>Декомпозиція області. Метод Шварца</a:t>
            </a:r>
            <a:endParaRPr lang="ru-UA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57316B-C42F-40AD-AAE5-6721F2CE2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uk-UA" sz="2400" i="1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uk-UA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d>
                                        <m:dPr>
                                          <m:begChr m:val="{"/>
                                          <m:endChr m:val=""/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eqArr>
                                            <m:eqArr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ru-RU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ru-RU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ru-RU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bSup>
                                            </m:e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𝑢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d>
                                                    <m:dPr>
                                                      <m:ctrlPr>
                                                        <a:rPr lang="ru-RU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ru-RU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e>
                                                  </m:d>
                                                </m:sup>
                                              </m:sSubSup>
                                            </m:e>
                                          </m:eqArr>
                                        </m:e>
                                      </m:d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   на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\</m:t>
                                      </m:r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uk-UA" sz="2400" i="1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uk-UA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uk-UA" sz="2200" b="0" dirty="0"/>
              </a:p>
            </p:txBody>
          </p:sp>
        </mc:Choice>
        <mc:Fallback xmlns="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57316B-C42F-40AD-AAE5-6721F2CE2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63ED6AD-9BFE-4125-843D-2028682C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74FAB-84EF-4DF8-83A6-3DF7CF24189D}"/>
                  </a:ext>
                </a:extLst>
              </p:cNvPr>
              <p:cNvSpPr txBox="1"/>
              <p:nvPr/>
            </p:nvSpPr>
            <p:spPr>
              <a:xfrm>
                <a:off x="6591907" y="1007533"/>
                <a:ext cx="3862733" cy="959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ar-AE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B74FAB-84EF-4DF8-83A6-3DF7CF241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907" y="1007533"/>
                <a:ext cx="3862733" cy="959430"/>
              </a:xfrm>
              <a:prstGeom prst="rect">
                <a:avLst/>
              </a:prstGeom>
              <a:blipFill>
                <a:blip r:embed="rId3"/>
                <a:stretch>
                  <a:fillRect b="-44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C793FB-B708-40BA-896C-F729DFB4F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33638"/>
            <a:ext cx="6137005" cy="43052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425EE4-DB9D-435B-BEAD-034757A68098}"/>
                  </a:ext>
                </a:extLst>
              </p:cNvPr>
              <p:cNvSpPr txBox="1"/>
              <p:nvPr/>
            </p:nvSpPr>
            <p:spPr>
              <a:xfrm>
                <a:off x="8425542" y="4867896"/>
                <a:ext cx="3717471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4096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𝑎𝑛𝑎𝑙𝑖𝑡𝑖𝑐</m:t>
                          </m:r>
                        </m:sub>
                      </m:sSub>
                      <m:r>
                        <a:rPr lang="LID4096" sz="2400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LID4096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LID4096" sz="24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LID4096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LID4096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LID4096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LID4096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LID4096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LID4096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LID4096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LID4096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LID4096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425EE4-DB9D-435B-BEAD-034757A68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542" y="4867896"/>
                <a:ext cx="3717471" cy="833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0D92CBC-996B-4287-9725-CE57379E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11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519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C4D08-B01B-4A14-B286-42E4E5BE3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8" y="206479"/>
            <a:ext cx="10236199" cy="589388"/>
          </a:xfrm>
        </p:spPr>
        <p:txBody>
          <a:bodyPr>
            <a:noAutofit/>
          </a:bodyPr>
          <a:lstStyle/>
          <a:p>
            <a:r>
              <a:rPr lang="uk-UA" sz="2700" dirty="0"/>
              <a:t>Декомпозиція області. Метод Неймана-Дирихле</a:t>
            </a:r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B885B03-B301-46BE-A03B-6232A09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6814" y="6356350"/>
            <a:ext cx="10267826" cy="365125"/>
          </a:xfrm>
        </p:spPr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7DAED3-A1DD-4582-BA2C-0C0816640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2" t="6425" r="5283" b="5243"/>
          <a:stretch/>
        </p:blipFill>
        <p:spPr>
          <a:xfrm>
            <a:off x="356086" y="3247469"/>
            <a:ext cx="3624417" cy="2892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10C801-610D-4FE1-AF13-04BCBDD8742A}"/>
                  </a:ext>
                </a:extLst>
              </p:cNvPr>
              <p:cNvSpPr txBox="1"/>
              <p:nvPr/>
            </p:nvSpPr>
            <p:spPr>
              <a:xfrm>
                <a:off x="-56607" y="1465253"/>
                <a:ext cx="4435020" cy="1635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cap="all" smtClean="0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=1;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𝐷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∈</m:t>
                      </m:r>
                      <m:sSup>
                        <m:sSup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 cap="all"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  <m:t>0;1</m:t>
                              </m:r>
                            </m:e>
                          </m:d>
                        </m:e>
                        <m:sup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400" dirty="0">
                  <a:latin typeface="Cambria Math" pitchFamily="18" charset="0"/>
                  <a:ea typeface="Cambria Math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𝑈</m:t>
                      </m:r>
                      <m:d>
                        <m:d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0,</m:t>
                          </m:r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=</m:t>
                      </m:r>
                      <m:r>
                        <a:rPr lang="ru-RU" sz="2400" b="0" i="1" cap="all" smtClean="0">
                          <a:latin typeface="Cambria Math" panose="02040503050406030204" pitchFamily="18" charset="0"/>
                          <a:ea typeface="Cambria Math" pitchFamily="18" charset="0"/>
                        </a:rPr>
                        <m:t>0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;  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𝑈</m:t>
                      </m:r>
                      <m:d>
                        <m:d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1,</m:t>
                          </m:r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=</m:t>
                      </m:r>
                      <m:r>
                        <a:rPr lang="ru-RU" sz="2400" b="0" i="1" cap="all" smtClean="0">
                          <a:latin typeface="Cambria Math" panose="02040503050406030204" pitchFamily="18" charset="0"/>
                          <a:ea typeface="Cambria Math" pitchFamily="18" charset="0"/>
                        </a:rPr>
                        <m:t>0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latin typeface="Cambria Math" pitchFamily="18" charset="0"/>
                  <a:ea typeface="Cambria Math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𝑈</m:t>
                      </m:r>
                      <m:d>
                        <m:d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𝑥</m:t>
                          </m:r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,0</m:t>
                          </m:r>
                        </m:e>
                      </m:d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=</m:t>
                      </m:r>
                      <m:r>
                        <a:rPr lang="ru-RU" sz="2400" b="0" i="1" cap="all" smtClean="0">
                          <a:latin typeface="Cambria Math" panose="02040503050406030204" pitchFamily="18" charset="0"/>
                          <a:ea typeface="Cambria Math" pitchFamily="18" charset="0"/>
                        </a:rPr>
                        <m:t>0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;  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𝑈</m:t>
                      </m:r>
                      <m:d>
                        <m:dPr>
                          <m:ctrlP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dPr>
                        <m:e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𝑥</m:t>
                          </m:r>
                          <m:r>
                            <a:rPr lang="ru-RU" sz="2400" i="1" cap="all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,1</m:t>
                          </m:r>
                        </m:e>
                      </m:d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=</m:t>
                      </m:r>
                      <m:r>
                        <a:rPr lang="ru-RU" sz="2400" b="0" i="1" cap="all" smtClean="0">
                          <a:latin typeface="Cambria Math" panose="02040503050406030204" pitchFamily="18" charset="0"/>
                          <a:ea typeface="Cambria Math" pitchFamily="18" charset="0"/>
                        </a:rPr>
                        <m:t>0</m:t>
                      </m:r>
                      <m:r>
                        <a:rPr lang="ru-RU" sz="2400" i="1" cap="all">
                          <a:latin typeface="Cambria Math" pitchFamily="18" charset="0"/>
                          <a:ea typeface="Cambria Math" pitchFamily="18" charset="0"/>
                        </a:rPr>
                        <m:t>.</m:t>
                      </m:r>
                    </m:oMath>
                  </m:oMathPara>
                </a14:m>
                <a:endParaRPr lang="LID4096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10C801-610D-4FE1-AF13-04BCBDD87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607" y="1465253"/>
                <a:ext cx="4435020" cy="1635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BAEE822-640C-454A-A9E0-7AEB9CAC66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44" t="6851" r="4497" b="4629"/>
          <a:stretch/>
        </p:blipFill>
        <p:spPr>
          <a:xfrm>
            <a:off x="8829439" y="1056520"/>
            <a:ext cx="3123085" cy="2274509"/>
          </a:xfrm>
          <a:prstGeom prst="rect">
            <a:avLst/>
          </a:prstGeom>
        </p:spPr>
      </p:pic>
      <p:sp>
        <p:nvSpPr>
          <p:cNvPr id="14" name="Місце для вмісту 13">
            <a:extLst>
              <a:ext uri="{FF2B5EF4-FFF2-40B4-BE49-F238E27FC236}">
                <a16:creationId xmlns:a16="http://schemas.microsoft.com/office/drawing/2014/main" id="{CD718245-916A-4DD9-A3BE-D6B6B2FB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Задача 2. </a:t>
            </a:r>
            <a:r>
              <a:rPr lang="uk-UA" dirty="0"/>
              <a:t>Знайти </a:t>
            </a:r>
            <a:r>
              <a:rPr lang="uk-UA" dirty="0" err="1"/>
              <a:t>чис</a:t>
            </a:r>
            <a:r>
              <a:rPr lang="uk-UA" dirty="0"/>
              <a:t>. розв:</a:t>
            </a:r>
            <a:endParaRPr lang="LID4096" dirty="0"/>
          </a:p>
        </p:txBody>
      </p:sp>
      <p:pic>
        <p:nvPicPr>
          <p:cNvPr id="15" name="Місце для вмісту 5">
            <a:extLst>
              <a:ext uri="{FF2B5EF4-FFF2-40B4-BE49-F238E27FC236}">
                <a16:creationId xmlns:a16="http://schemas.microsoft.com/office/drawing/2014/main" id="{46A8EFA7-3118-404F-82C2-798F3B8412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77" t="7911" r="3010" b="5266"/>
          <a:stretch/>
        </p:blipFill>
        <p:spPr>
          <a:xfrm>
            <a:off x="8080017" y="3380020"/>
            <a:ext cx="3924658" cy="2759528"/>
          </a:xfrm>
          <a:prstGeom prst="rect">
            <a:avLst/>
          </a:prstGeom>
          <a:ln>
            <a:noFill/>
            <a:prstDash val="lgDash"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5BE8C7B-5A67-4A97-B108-5BCAE52802A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448" t="6769" r="4981" b="4853"/>
          <a:stretch/>
        </p:blipFill>
        <p:spPr>
          <a:xfrm>
            <a:off x="5525698" y="1051034"/>
            <a:ext cx="3123085" cy="22606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8BA011-51E8-484F-BEC5-D9A1903D367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46" t="6923" r="6369" b="4745"/>
          <a:stretch/>
        </p:blipFill>
        <p:spPr>
          <a:xfrm>
            <a:off x="4144824" y="3263799"/>
            <a:ext cx="3758212" cy="2892078"/>
          </a:xfrm>
          <a:prstGeom prst="rect">
            <a:avLst/>
          </a:prstGeom>
        </p:spPr>
      </p:pic>
      <p:sp>
        <p:nvSpPr>
          <p:cNvPr id="3" name="Місце для номера слайда 2">
            <a:extLst>
              <a:ext uri="{FF2B5EF4-FFF2-40B4-BE49-F238E27FC236}">
                <a16:creationId xmlns:a16="http://schemas.microsoft.com/office/drawing/2014/main" id="{969302BE-E1EE-4E58-A32F-EFFE0850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12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4784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61ABF-E4AA-4BEF-8B49-8F123F6A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Порівняльний аналіз</a:t>
            </a:r>
            <a:endParaRPr lang="LID4096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AD43E2-6280-4B6A-AAC7-7D7DD3E7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uk-UA" dirty="0"/>
              <a:t>Результати порівняння методів для 4-х областей задачі 2. Кількість вузлів сітки 60х60.</a:t>
            </a:r>
            <a:endParaRPr lang="LID4096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7D36C3E-2F17-4572-B0F9-ADA25471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graphicFrame>
        <p:nvGraphicFramePr>
          <p:cNvPr id="6" name="Таблица 8">
            <a:extLst>
              <a:ext uri="{FF2B5EF4-FFF2-40B4-BE49-F238E27FC236}">
                <a16:creationId xmlns:a16="http://schemas.microsoft.com/office/drawing/2014/main" id="{A235DA5D-C0CE-47C4-B77F-0A2993C81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927888"/>
              </p:ext>
            </p:extLst>
          </p:nvPr>
        </p:nvGraphicFramePr>
        <p:xfrm>
          <a:off x="246909" y="1870306"/>
          <a:ext cx="11709290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74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8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278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Назва 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/ критерій оцінки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Алгоритм Дирихле-Неймана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Алгоритм Нейман</a:t>
                      </a:r>
                      <a:r>
                        <a:rPr lang="en-US" dirty="0">
                          <a:latin typeface="Cambria" panose="02040503050406030204" pitchFamily="18" charset="0"/>
                        </a:rPr>
                        <a:t>-</a:t>
                      </a:r>
                      <a:r>
                        <a:rPr lang="uk-UA" dirty="0">
                          <a:latin typeface="Cambria" panose="02040503050406030204" pitchFamily="18" charset="0"/>
                        </a:rPr>
                        <a:t>Дирихле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ru-RU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Алгоритм </a:t>
                      </a:r>
                      <a:r>
                        <a:rPr lang="ru-RU" dirty="0">
                          <a:latin typeface="Cambria" panose="02040503050406030204" pitchFamily="18" charset="0"/>
                        </a:rPr>
                        <a:t>Нейман</a:t>
                      </a:r>
                      <a:r>
                        <a:rPr lang="en-US" dirty="0">
                          <a:latin typeface="Cambria" panose="02040503050406030204" pitchFamily="18" charset="0"/>
                        </a:rPr>
                        <a:t>-</a:t>
                      </a:r>
                      <a:r>
                        <a:rPr lang="uk-UA" dirty="0">
                          <a:latin typeface="Cambria" panose="02040503050406030204" pitchFamily="18" charset="0"/>
                        </a:rPr>
                        <a:t>Неймана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Алгоритм </a:t>
                      </a:r>
                      <a:r>
                        <a:rPr lang="ru-RU" dirty="0">
                          <a:latin typeface="Cambria" panose="02040503050406030204" pitchFamily="18" charset="0"/>
                        </a:rPr>
                        <a:t>Дирихле</a:t>
                      </a:r>
                      <a:r>
                        <a:rPr lang="en-US" dirty="0">
                          <a:latin typeface="Cambria" panose="02040503050406030204" pitchFamily="18" charset="0"/>
                        </a:rPr>
                        <a:t>-</a:t>
                      </a:r>
                      <a:r>
                        <a:rPr lang="uk-UA" dirty="0">
                          <a:latin typeface="Cambria" panose="02040503050406030204" pitchFamily="18" charset="0"/>
                        </a:rPr>
                        <a:t>Дирихле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    </a:t>
                      </a:r>
                      <a:endParaRPr lang="ru-RU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uk-UA" dirty="0">
                          <a:latin typeface="Cambria" panose="02040503050406030204" pitchFamily="18" charset="0"/>
                        </a:rPr>
                        <a:t>Алгоритм Робін-Робіна</a:t>
                      </a:r>
                      <a:endParaRPr lang="en-US" dirty="0">
                        <a:latin typeface="Cambria" panose="02040503050406030204" pitchFamily="18" charset="0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</a:rPr>
                        <a:t>    </a:t>
                      </a:r>
                      <a:endParaRPr lang="ru-RU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dirty="0">
                          <a:latin typeface="Cambria" panose="02040503050406030204" pitchFamily="18" charset="0"/>
                        </a:rPr>
                        <a:t>Алгоритм Дирихле/ Дирихле– Нейман/ Неймана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dirty="0">
                          <a:latin typeface="Cambria" panose="02040503050406030204" pitchFamily="18" charset="0"/>
                        </a:rPr>
                        <a:t>Алгоритм Нейман/ Неймана</a:t>
                      </a:r>
                      <a:r>
                        <a:rPr lang="en-US" dirty="0">
                          <a:latin typeface="Cambria" panose="02040503050406030204" pitchFamily="18" charset="0"/>
                        </a:rPr>
                        <a:t>– </a:t>
                      </a:r>
                      <a:r>
                        <a:rPr lang="ru-RU" dirty="0">
                          <a:latin typeface="Cambria" panose="02040503050406030204" pitchFamily="18" charset="0"/>
                        </a:rPr>
                        <a:t>Дирихле/ Дирихле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uk-UA" sz="1700" b="1" dirty="0">
                          <a:latin typeface="Cambria" panose="02040503050406030204" pitchFamily="18" charset="0"/>
                        </a:rPr>
                        <a:t>Кількість</a:t>
                      </a:r>
                      <a:r>
                        <a:rPr lang="uk-UA" sz="1700" b="1" baseline="0" dirty="0">
                          <a:latin typeface="Cambria" panose="02040503050406030204" pitchFamily="18" charset="0"/>
                        </a:rPr>
                        <a:t> ітерацій</a:t>
                      </a:r>
                      <a:endParaRPr lang="ru-RU" sz="17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6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2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5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9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4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5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uk-UA" sz="1700" b="1" dirty="0">
                          <a:latin typeface="Cambria" panose="02040503050406030204" pitchFamily="18" charset="0"/>
                        </a:rPr>
                        <a:t>Точність обрахунку</a:t>
                      </a:r>
                      <a:endParaRPr lang="ru-RU" sz="17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dirty="0">
                          <a:latin typeface="Cambria" panose="02040503050406030204" pitchFamily="18" charset="0"/>
                        </a:rPr>
                        <a:t>1e-</a:t>
                      </a:r>
                      <a:r>
                        <a:rPr lang="uk-UA" sz="2600" b="1" dirty="0">
                          <a:latin typeface="Cambria" panose="02040503050406030204" pitchFamily="18" charset="0"/>
                        </a:rPr>
                        <a:t>8</a:t>
                      </a:r>
                      <a:endParaRPr lang="ru-RU" sz="2600" b="1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1BB25E-A347-41C9-85C8-C223C6BED7A8}"/>
                  </a:ext>
                </a:extLst>
              </p:cNvPr>
              <p:cNvSpPr txBox="1"/>
              <p:nvPr/>
            </p:nvSpPr>
            <p:spPr>
              <a:xfrm>
                <a:off x="246909" y="4764212"/>
                <a:ext cx="9337962" cy="737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LID4096" sz="280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LID4096" sz="28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LID4096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LID4096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LID4096" sz="2800" i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LID4096" sz="2800" i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LID4096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LID4096" sz="28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LID4096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LID4096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LID4096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LID4096" sz="28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LID4096" sz="2800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LID4096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LID4096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LID4096" sz="28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LID4096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LID4096" sz="2800" i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LID4096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ID4096" sz="28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LID4096" sz="2800" i="0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𝑖𝑡𝑒𝑟𝑎𝑡𝑖𝑜𝑛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ID4096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1BB25E-A347-41C9-85C8-C223C6BE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09" y="4764212"/>
                <a:ext cx="9337962" cy="7379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A43FDD8-9861-4D79-8977-DDF6DEDC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13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26053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C4D08-B01B-4A14-B286-42E4E5BE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Багатосіткові методи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6E2226-805C-4038-9F7C-0419B7A5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endParaRPr lang="en-US" sz="2000" b="0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B885B03-B301-46BE-A03B-6232A09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1026" name="Picture 2" descr="Illustration of the multigrid V-cycle. | Download Scientific Diagram">
            <a:extLst>
              <a:ext uri="{FF2B5EF4-FFF2-40B4-BE49-F238E27FC236}">
                <a16:creationId xmlns:a16="http://schemas.microsoft.com/office/drawing/2014/main" id="{E902BA5D-E550-41E2-B08B-6ABD4EB5A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38" y="975254"/>
            <a:ext cx="10277659" cy="527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F3F6D1D-F798-4CA0-88F8-FA9891F0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14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67478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C4D08-B01B-4A14-B286-42E4E5BE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800" dirty="0"/>
              <a:t>Багатосіткові методи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6E2226-805C-4038-9F7C-0419B7A5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endParaRPr lang="en-US" sz="2000" b="0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B885B03-B301-46BE-A03B-6232A09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2050" name="Picture 2" descr="Structure of one multigrid cycle: (a) V-cycle, (b) W-cycle and (c)... |  Download Scientific Diagram">
            <a:extLst>
              <a:ext uri="{FF2B5EF4-FFF2-40B4-BE49-F238E27FC236}">
                <a16:creationId xmlns:a16="http://schemas.microsoft.com/office/drawing/2014/main" id="{0089F96D-83B6-4140-B6A7-E8D9858E9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828" y="926267"/>
            <a:ext cx="8736812" cy="532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272A12B-AC07-4C3E-A8A5-07FF32F1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15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79127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C6122-C0F6-49A6-96E6-8E5DC526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400" dirty="0"/>
              <a:t>Приклад переходу між сітками у багатосітковому методі</a:t>
            </a:r>
            <a:endParaRPr lang="LID4096" sz="2400" dirty="0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0584EB5-03A8-4AD7-B853-797BD12D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Методи й алгоритми зменшення обчислювальної складності у процесі знаходження чисельного розв’язку рівняння Пуассона у задачах реконструкції візуальних образів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34EF77-511D-4EB3-8A8C-3593255F9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008" y="893230"/>
            <a:ext cx="8290151" cy="263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C479506-8F80-466F-B779-E44C7CF95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034" y="3622853"/>
            <a:ext cx="8290151" cy="263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77A583B-160C-4076-96E8-BC6D7A6E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3E1D7-D316-49E5-89A8-CE7FC068F28A}" type="slidenum">
              <a:rPr lang="uk-UA" smtClean="0"/>
              <a:pPr/>
              <a:t>16</a:t>
            </a:fld>
            <a:r>
              <a:rPr lang="en-US" dirty="0"/>
              <a:t>/</a:t>
            </a:r>
            <a:r>
              <a:rPr lang="uk-UA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5913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292BD4E-7878-4C47-B92B-0E79B106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27838267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804</Words>
  <Application>Microsoft Office PowerPoint</Application>
  <PresentationFormat>Широкий екран</PresentationFormat>
  <Paragraphs>123</Paragraphs>
  <Slides>17</Slides>
  <Notes>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7" baseType="lpstr">
      <vt:lpstr>Arial</vt:lpstr>
      <vt:lpstr>Book Antiqua</vt:lpstr>
      <vt:lpstr>Calibri</vt:lpstr>
      <vt:lpstr>Calibri Light</vt:lpstr>
      <vt:lpstr>Cambria</vt:lpstr>
      <vt:lpstr>Cambria Math</vt:lpstr>
      <vt:lpstr>Courier New</vt:lpstr>
      <vt:lpstr>Verdana</vt:lpstr>
      <vt:lpstr>Wingdings</vt:lpstr>
      <vt:lpstr>Тема Office</vt:lpstr>
      <vt:lpstr>задачІ реконструкції візуальних образів. Методи й алгоритми зменшення обчислювальної складності у процесі знаходження чисельного розв’язку рівняння Пуассона</vt:lpstr>
      <vt:lpstr>Структура доповіді</vt:lpstr>
      <vt:lpstr>Актуальність</vt:lpstr>
      <vt:lpstr>Пониження розмірності моделі</vt:lpstr>
      <vt:lpstr>Декомпозиція області</vt:lpstr>
      <vt:lpstr>Декомпозиція області</vt:lpstr>
      <vt:lpstr>Приклади декомпозиції області</vt:lpstr>
      <vt:lpstr>Основні методи декомпозиція області</vt:lpstr>
      <vt:lpstr>Розрахункова система координат</vt:lpstr>
      <vt:lpstr>Декомпозиція області. Метод Неймана-Дирихле</vt:lpstr>
      <vt:lpstr>Декомпозиція області. Метод Шварца</vt:lpstr>
      <vt:lpstr>Декомпозиція області. Метод Неймана-Дирихле</vt:lpstr>
      <vt:lpstr>Порівняльний аналіз</vt:lpstr>
      <vt:lpstr>Багатосіткові методи</vt:lpstr>
      <vt:lpstr>Багатосіткові методи</vt:lpstr>
      <vt:lpstr>Приклад переходу між сітками у багатосітковому методі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Vlad Vlad</dc:creator>
  <cp:lastModifiedBy>Vlad Vlad</cp:lastModifiedBy>
  <cp:revision>173</cp:revision>
  <dcterms:created xsi:type="dcterms:W3CDTF">2022-05-07T10:52:18Z</dcterms:created>
  <dcterms:modified xsi:type="dcterms:W3CDTF">2023-12-17T21:01:53Z</dcterms:modified>
</cp:coreProperties>
</file>